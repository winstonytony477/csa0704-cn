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2" d="100"/>
          <a:sy n="92" d="100"/>
        </p:scale>
        <p:origin x="245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CFE6B-0A3A-4902-9766-FDBA3287DAB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E67AC-E40B-4F9A-9357-BBFA71C5A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533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CFE6B-0A3A-4902-9766-FDBA3287DAB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E67AC-E40B-4F9A-9357-BBFA71C5A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20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CFE6B-0A3A-4902-9766-FDBA3287DAB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E67AC-E40B-4F9A-9357-BBFA71C5A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888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CFE6B-0A3A-4902-9766-FDBA3287DAB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E67AC-E40B-4F9A-9357-BBFA71C5A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450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CFE6B-0A3A-4902-9766-FDBA3287DAB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E67AC-E40B-4F9A-9357-BBFA71C5A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54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CFE6B-0A3A-4902-9766-FDBA3287DAB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E67AC-E40B-4F9A-9357-BBFA71C5A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815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CFE6B-0A3A-4902-9766-FDBA3287DAB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E67AC-E40B-4F9A-9357-BBFA71C5A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497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CFE6B-0A3A-4902-9766-FDBA3287DAB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E67AC-E40B-4F9A-9357-BBFA71C5A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379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CFE6B-0A3A-4902-9766-FDBA3287DAB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E67AC-E40B-4F9A-9357-BBFA71C5A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946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CFE6B-0A3A-4902-9766-FDBA3287DAB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E67AC-E40B-4F9A-9357-BBFA71C5A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802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CFE6B-0A3A-4902-9766-FDBA3287DAB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E67AC-E40B-4F9A-9357-BBFA71C5AC9C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5890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CFE6B-0A3A-4902-9766-FDBA3287DAB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E67AC-E40B-4F9A-9357-BBFA71C5A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9762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CFE6B-0A3A-4902-9766-FDBA3287DAB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E67AC-E40B-4F9A-9357-BBFA71C5AC9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169662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CFE6B-0A3A-4902-9766-FDBA3287DAB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E67AC-E40B-4F9A-9357-BBFA71C5A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8664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CFE6B-0A3A-4902-9766-FDBA3287DAB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E67AC-E40B-4F9A-9357-BBFA71C5A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7853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CFE6B-0A3A-4902-9766-FDBA3287DAB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E67AC-E40B-4F9A-9357-BBFA71C5A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189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ACFE6B-0A3A-4902-9766-FDBA3287DAB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58E67AC-E40B-4F9A-9357-BBFA71C5A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17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eb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eb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3E43A2-5DE9-6A20-E877-47FBC46EA855}"/>
              </a:ext>
            </a:extLst>
          </p:cNvPr>
          <p:cNvSpPr txBox="1"/>
          <p:nvPr/>
        </p:nvSpPr>
        <p:spPr>
          <a:xfrm>
            <a:off x="2461606" y="1797920"/>
            <a:ext cx="726878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i="1" dirty="0">
                <a:solidFill>
                  <a:srgbClr val="FF0000"/>
                </a:solidFill>
              </a:rPr>
              <a:t>PHISHING EMAIL TRAFFIC DETECTION AWARENESS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A283B1-BA32-952F-3A1A-D37EFD9AE3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528" y="419484"/>
            <a:ext cx="3258462" cy="9476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0985B5-AAAE-C83C-F29D-2D644BED45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21" y="373461"/>
            <a:ext cx="3840480" cy="10895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BE278A-1349-4147-1A1E-4F6BD35523E2}"/>
              </a:ext>
            </a:extLst>
          </p:cNvPr>
          <p:cNvSpPr txBox="1"/>
          <p:nvPr/>
        </p:nvSpPr>
        <p:spPr>
          <a:xfrm>
            <a:off x="648393" y="3552144"/>
            <a:ext cx="92853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FF0000"/>
                </a:solidFill>
              </a:rPr>
              <a:t>NAME:        </a:t>
            </a:r>
            <a:r>
              <a:rPr lang="en-US" sz="2000" b="1" i="1" dirty="0"/>
              <a:t>Tony Winston T               N </a:t>
            </a:r>
            <a:r>
              <a:rPr lang="en-US" sz="2000" b="1" i="1" dirty="0" err="1"/>
              <a:t>Jaianiruth</a:t>
            </a:r>
            <a:r>
              <a:rPr lang="en-US" sz="2000" b="1" i="1" dirty="0"/>
              <a:t>                   </a:t>
            </a:r>
            <a:r>
              <a:rPr lang="en-US" sz="2000" b="1" i="1" dirty="0" err="1"/>
              <a:t>Abinayasri</a:t>
            </a:r>
            <a:r>
              <a:rPr lang="en-US" sz="2000" b="1" i="1" dirty="0"/>
              <a:t> K</a:t>
            </a:r>
            <a:endParaRPr lang="en-US" sz="2000" b="1" i="1" dirty="0">
              <a:solidFill>
                <a:srgbClr val="FF0000"/>
              </a:solidFill>
            </a:endParaRPr>
          </a:p>
          <a:p>
            <a:endParaRPr lang="en-US" sz="2000" b="1" i="1" dirty="0">
              <a:solidFill>
                <a:srgbClr val="FF0000"/>
              </a:solidFill>
            </a:endParaRPr>
          </a:p>
          <a:p>
            <a:r>
              <a:rPr lang="en-US" sz="2000" b="1" i="1" dirty="0">
                <a:solidFill>
                  <a:srgbClr val="FF0000"/>
                </a:solidFill>
              </a:rPr>
              <a:t>REG. NO:    </a:t>
            </a:r>
            <a:r>
              <a:rPr lang="en-US" sz="2000" b="1" dirty="0"/>
              <a:t>1924260006                   1911260130                     1921260133</a:t>
            </a:r>
            <a:endParaRPr lang="en-US" sz="2000" b="1" i="1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0518C9-23F7-A7B9-5AB2-B27F3237249D}"/>
              </a:ext>
            </a:extLst>
          </p:cNvPr>
          <p:cNvSpPr txBox="1"/>
          <p:nvPr/>
        </p:nvSpPr>
        <p:spPr>
          <a:xfrm>
            <a:off x="723208" y="4826675"/>
            <a:ext cx="7672647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FF0000"/>
                </a:solidFill>
              </a:rPr>
              <a:t>COURSE NAME: </a:t>
            </a: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COMPUTER NETWORKS</a:t>
            </a:r>
          </a:p>
          <a:p>
            <a:r>
              <a:rPr lang="en-US" sz="2000" b="1" i="1" dirty="0">
                <a:solidFill>
                  <a:srgbClr val="FF0000"/>
                </a:solidFill>
              </a:rPr>
              <a:t>COURSE CODE: </a:t>
            </a: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CSA0704</a:t>
            </a:r>
          </a:p>
          <a:p>
            <a:r>
              <a:rPr lang="en-US" sz="2000" b="1" i="1" dirty="0">
                <a:solidFill>
                  <a:srgbClr val="FF0000"/>
                </a:solidFill>
              </a:rPr>
              <a:t>SLOT: </a:t>
            </a: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</a:t>
            </a:r>
          </a:p>
          <a:p>
            <a:endParaRPr lang="en-US" dirty="0"/>
          </a:p>
          <a:p>
            <a:r>
              <a:rPr lang="en-US" sz="2000" b="1" i="1" dirty="0">
                <a:solidFill>
                  <a:srgbClr val="FF0000"/>
                </a:solidFill>
              </a:rPr>
              <a:t>GUIDED BY: </a:t>
            </a:r>
            <a:r>
              <a:rPr lang="en-US" sz="2000" b="1" i="1" dirty="0" err="1"/>
              <a:t>Dr.JAI</a:t>
            </a:r>
            <a:r>
              <a:rPr lang="en-US" sz="2000" b="1" i="1" dirty="0"/>
              <a:t> SHARMA K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489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5221B69-7806-0869-0FDC-780B55EFA6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1643645"/>
              </p:ext>
            </p:extLst>
          </p:nvPr>
        </p:nvGraphicFramePr>
        <p:xfrm>
          <a:off x="2028305" y="171025"/>
          <a:ext cx="7323513" cy="63461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23513">
                  <a:extLst>
                    <a:ext uri="{9D8B030D-6E8A-4147-A177-3AD203B41FA5}">
                      <a16:colId xmlns:a16="http://schemas.microsoft.com/office/drawing/2014/main" val="285496996"/>
                    </a:ext>
                  </a:extLst>
                </a:gridCol>
              </a:tblGrid>
              <a:tr h="805675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i="1" dirty="0">
                          <a:solidFill>
                            <a:srgbClr val="FF0000"/>
                          </a:solidFill>
                        </a:rPr>
                        <a:t>Table of Contents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7048368"/>
                  </a:ext>
                </a:extLst>
              </a:tr>
              <a:tr h="426191"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/>
                        <a:t>ABSTRACT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4939675"/>
                  </a:ext>
                </a:extLst>
              </a:tr>
              <a:tr h="426191"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/>
                        <a:t>INTRODUCTION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8470875"/>
                  </a:ext>
                </a:extLst>
              </a:tr>
              <a:tr h="426191"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/>
                        <a:t>PROBLEM STATEMENT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8425291"/>
                  </a:ext>
                </a:extLst>
              </a:tr>
              <a:tr h="426191"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/>
                        <a:t>PROPOSED 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8751"/>
                  </a:ext>
                </a:extLst>
              </a:tr>
              <a:tr h="426191"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/>
                        <a:t>SYSTEM ARCHITECTURE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6255712"/>
                  </a:ext>
                </a:extLst>
              </a:tr>
              <a:tr h="426191"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/>
                        <a:t>MODULE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741763"/>
                  </a:ext>
                </a:extLst>
              </a:tr>
              <a:tr h="426191"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/>
                        <a:t>MODULE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762497"/>
                  </a:ext>
                </a:extLst>
              </a:tr>
              <a:tr h="426191"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/>
                        <a:t>MODULE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020649"/>
                  </a:ext>
                </a:extLst>
              </a:tr>
              <a:tr h="426191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SOFTWARE/HARDWARE FUNCTIONALITY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422536"/>
                  </a:ext>
                </a:extLst>
              </a:tr>
              <a:tr h="426191"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/>
                        <a:t>RESULT AND COMPARISON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6019820"/>
                  </a:ext>
                </a:extLst>
              </a:tr>
              <a:tr h="426191"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/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5708707"/>
                  </a:ext>
                </a:extLst>
              </a:tr>
              <a:tr h="426191"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/>
                        <a:t>FUTURE SCOPE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860858"/>
                  </a:ext>
                </a:extLst>
              </a:tr>
              <a:tr h="426191"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/>
                        <a:t>CONCLUSION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811508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53D5E3E2-C8F7-A62C-7F25-3D4202782B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328" y="171025"/>
            <a:ext cx="2277559" cy="662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113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8B5501-81A9-A8B5-E6A4-6FE4BD93A300}"/>
              </a:ext>
            </a:extLst>
          </p:cNvPr>
          <p:cNvSpPr txBox="1"/>
          <p:nvPr/>
        </p:nvSpPr>
        <p:spPr>
          <a:xfrm>
            <a:off x="147551" y="39266"/>
            <a:ext cx="60973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i="1" dirty="0">
                <a:solidFill>
                  <a:srgbClr val="FF0000"/>
                </a:solidFill>
              </a:rPr>
              <a:t>Abstract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294A3F-71A9-F557-F895-6E4B122F6004}"/>
              </a:ext>
            </a:extLst>
          </p:cNvPr>
          <p:cNvSpPr txBox="1"/>
          <p:nvPr/>
        </p:nvSpPr>
        <p:spPr>
          <a:xfrm>
            <a:off x="147551" y="1444116"/>
            <a:ext cx="1107463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i="1" dirty="0"/>
              <a:t>Phishing emails are a common cybersecurity threat that attempt to trick users into revealing sensitive information.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b="1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i="1" dirty="0"/>
              <a:t>This project demonstrates basic techniques for identifying suspicious email traffic.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i="1" dirty="0"/>
              <a:t>A controlled email environment is used to simulate normal and suspicious traffic.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b="1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i="1" dirty="0"/>
              <a:t>Wireshark</a:t>
            </a:r>
            <a:r>
              <a:rPr lang="en-US" sz="2000" i="1" dirty="0"/>
              <a:t> is used to analyze network-visible email traffic and identify suspicious patterns.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i="1" dirty="0"/>
              <a:t>A </a:t>
            </a:r>
            <a:r>
              <a:rPr lang="en-US" sz="2000" b="1" i="1" dirty="0"/>
              <a:t>Python keyword-based detection script</a:t>
            </a:r>
            <a:r>
              <a:rPr lang="en-US" sz="2000" i="1" dirty="0"/>
              <a:t> is developed to flag emails containing common phishing-related terms.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i="1" dirty="0"/>
              <a:t>The project provides a simple approach to understanding how phishing traffic can be detected.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CCA8FC-36CA-28FF-A4E7-10405795F0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957" y="153957"/>
            <a:ext cx="2039678" cy="59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174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BB7D4D-74E2-A353-31F9-A89D1130D7BD}"/>
              </a:ext>
            </a:extLst>
          </p:cNvPr>
          <p:cNvSpPr txBox="1"/>
          <p:nvPr/>
        </p:nvSpPr>
        <p:spPr>
          <a:xfrm>
            <a:off x="272242" y="102123"/>
            <a:ext cx="60973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i="1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C9F88D-DA01-622E-CFA8-3BD68CDF5E4C}"/>
              </a:ext>
            </a:extLst>
          </p:cNvPr>
          <p:cNvSpPr txBox="1"/>
          <p:nvPr/>
        </p:nvSpPr>
        <p:spPr>
          <a:xfrm>
            <a:off x="396933" y="987981"/>
            <a:ext cx="10634056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i="1" dirty="0"/>
              <a:t>What is Phishing?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Phishing is a cyberattack where attackers pretend to be trustworthy individuals or organizations.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The main objective is to make users reveal confidential information.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Phishing commonly occurs through emails, messages, and fake websites.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Suspicious emails may contain: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 dirty="0"/>
              <a:t>Urgent requests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 dirty="0"/>
              <a:t>Fake account warnings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 dirty="0"/>
              <a:t>Suspicious links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 dirty="0"/>
              <a:t>Requests for personal information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 dirty="0"/>
              <a:t>Unusual sender addresses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C80146-CFF5-4D08-C6A9-6E6399AEE9DC}"/>
              </a:ext>
            </a:extLst>
          </p:cNvPr>
          <p:cNvSpPr txBox="1"/>
          <p:nvPr/>
        </p:nvSpPr>
        <p:spPr>
          <a:xfrm>
            <a:off x="272242" y="4581481"/>
            <a:ext cx="6097384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i="1" dirty="0"/>
              <a:t>Why is Detection Important?</a:t>
            </a:r>
          </a:p>
          <a:p>
            <a:pPr>
              <a:buFont typeface="Arial" panose="020B0604020202020204" pitchFamily="34" charset="0"/>
              <a:buChar char="•"/>
            </a:pPr>
            <a:endParaRPr lang="en-US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Protects users from cyberattacks.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Improves cybersecurity awareness.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Helps identify suspicious communication.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Reduces the risk of credential theft and financial fraud.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3DDBE2-2C1B-3F57-FAC9-46B4058B0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3188" y="134140"/>
            <a:ext cx="2676570" cy="77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301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639A37-E551-A18A-478E-329C0784EF81}"/>
              </a:ext>
            </a:extLst>
          </p:cNvPr>
          <p:cNvSpPr txBox="1"/>
          <p:nvPr/>
        </p:nvSpPr>
        <p:spPr>
          <a:xfrm>
            <a:off x="247304" y="235127"/>
            <a:ext cx="88052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1" dirty="0">
                <a:solidFill>
                  <a:srgbClr val="FF0000"/>
                </a:solidFill>
              </a:rPr>
              <a:t>Problem Identification and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BA7EEF-202D-FF9B-1637-EC20FE5BF935}"/>
              </a:ext>
            </a:extLst>
          </p:cNvPr>
          <p:cNvSpPr txBox="1"/>
          <p:nvPr/>
        </p:nvSpPr>
        <p:spPr>
          <a:xfrm>
            <a:off x="247304" y="1017075"/>
            <a:ext cx="11149445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i="1" dirty="0"/>
              <a:t>Problem Statement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Users often receive emails that appear legitimate but may contain phishing characteristics.</a:t>
            </a:r>
          </a:p>
          <a:p>
            <a:pPr>
              <a:buNone/>
            </a:pPr>
            <a:r>
              <a:rPr lang="en-US" dirty="0"/>
              <a:t>The problem is to develop a simple experimental system that can: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Simulate normal and suspicious email traffic.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Observe network traffic generated by emails.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Identify suspicious traffic patterns.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Detect common phishing-related keywords.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 awareness of basic phishing detection techniques. 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sz="2400" b="1" i="1" dirty="0"/>
              <a:t>Existing Problem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Traditional users may not recognize suspicious emails because phishing messages can look similar to legitimate emails.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EC431B-A735-4943-29E2-3E9AC01F39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5073" y="185235"/>
            <a:ext cx="2393937" cy="69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15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93A0AA-5E7E-4919-08FB-5E2099F11C97}"/>
              </a:ext>
            </a:extLst>
          </p:cNvPr>
          <p:cNvSpPr txBox="1"/>
          <p:nvPr/>
        </p:nvSpPr>
        <p:spPr>
          <a:xfrm>
            <a:off x="139239" y="110436"/>
            <a:ext cx="60973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i="1" dirty="0">
                <a:solidFill>
                  <a:srgbClr val="FF0000"/>
                </a:solidFill>
              </a:rPr>
              <a:t>Proposed Solution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84189A-2769-38AD-EC7C-C72FDF8EC4B8}"/>
              </a:ext>
            </a:extLst>
          </p:cNvPr>
          <p:cNvSpPr txBox="1"/>
          <p:nvPr/>
        </p:nvSpPr>
        <p:spPr>
          <a:xfrm>
            <a:off x="178647" y="943497"/>
            <a:ext cx="613479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i="1" dirty="0"/>
              <a:t>Three-Module Solution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The project is divided into three independent modules: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70943E-7269-DDED-A090-F40D75BB73A5}"/>
              </a:ext>
            </a:extLst>
          </p:cNvPr>
          <p:cNvSpPr txBox="1"/>
          <p:nvPr/>
        </p:nvSpPr>
        <p:spPr>
          <a:xfrm>
            <a:off x="178647" y="2374658"/>
            <a:ext cx="69494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Module 1 –</a:t>
            </a:r>
          </a:p>
          <a:p>
            <a:pPr>
              <a:buNone/>
            </a:pPr>
            <a:r>
              <a:rPr lang="en-US" b="1" dirty="0"/>
              <a:t>Controlled Email Traffic Simulation</a:t>
            </a:r>
            <a:endParaRPr lang="en-US" dirty="0"/>
          </a:p>
          <a:p>
            <a:pPr>
              <a:buNone/>
            </a:pPr>
            <a:r>
              <a:rPr lang="en-US" dirty="0"/>
              <a:t>Creates a controlled environment containing: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Normal email traffic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Suspicious email traffic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DBCC74-12AE-0C8D-C4D5-9E2F7074F2A2}"/>
              </a:ext>
            </a:extLst>
          </p:cNvPr>
          <p:cNvSpPr txBox="1"/>
          <p:nvPr/>
        </p:nvSpPr>
        <p:spPr>
          <a:xfrm>
            <a:off x="6708371" y="2374658"/>
            <a:ext cx="613479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Module 2 – </a:t>
            </a:r>
          </a:p>
          <a:p>
            <a:pPr>
              <a:buNone/>
            </a:pPr>
            <a:r>
              <a:rPr lang="en-US" b="1" dirty="0"/>
              <a:t>Wireshark-Based Pattern Analysis</a:t>
            </a:r>
            <a:endParaRPr lang="en-US" dirty="0"/>
          </a:p>
          <a:p>
            <a:pPr>
              <a:buNone/>
            </a:pPr>
            <a:r>
              <a:rPr lang="en-US" dirty="0"/>
              <a:t>Captures and analyzes network traffic to identify: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Email protocols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Headers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Suspicious patterns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Network-visible indicators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B77BAD-3A65-BF09-EE11-E9CCF93F2285}"/>
              </a:ext>
            </a:extLst>
          </p:cNvPr>
          <p:cNvSpPr txBox="1"/>
          <p:nvPr/>
        </p:nvSpPr>
        <p:spPr>
          <a:xfrm>
            <a:off x="3653367" y="4682982"/>
            <a:ext cx="646006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Module 3 –</a:t>
            </a:r>
          </a:p>
          <a:p>
            <a:pPr>
              <a:buNone/>
            </a:pPr>
            <a:r>
              <a:rPr lang="en-US" b="1" dirty="0"/>
              <a:t>Basic Keyword-Based Detection Script</a:t>
            </a:r>
            <a:endParaRPr lang="en-US" dirty="0"/>
          </a:p>
          <a:p>
            <a:pPr>
              <a:buNone/>
            </a:pPr>
            <a:r>
              <a:rPr lang="en-US" dirty="0"/>
              <a:t>Uses Python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Read email subject/text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Search for phishing-related keywords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Flag suspicious emails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926BB4-3083-FB05-A32B-EB25D96A70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5444" y="118749"/>
            <a:ext cx="2434040" cy="70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782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D840CC-143D-2219-F07D-266DD50EA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13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7A23554-A9DB-5F79-AD84-73BA69A319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0834" y="103601"/>
            <a:ext cx="2159079" cy="62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364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48FC70-88A5-B448-60C2-F98B0CEBF683}"/>
              </a:ext>
            </a:extLst>
          </p:cNvPr>
          <p:cNvSpPr txBox="1"/>
          <p:nvPr/>
        </p:nvSpPr>
        <p:spPr>
          <a:xfrm>
            <a:off x="108066" y="197719"/>
            <a:ext cx="6101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Module 1: Controlled Email Traffic Simulation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9A95B8-C483-59CE-9C0F-BE6F1B0A7724}"/>
              </a:ext>
            </a:extLst>
          </p:cNvPr>
          <p:cNvSpPr txBox="1"/>
          <p:nvPr/>
        </p:nvSpPr>
        <p:spPr>
          <a:xfrm>
            <a:off x="149630" y="884996"/>
            <a:ext cx="61015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Objective:</a:t>
            </a:r>
            <a:br>
              <a:rPr lang="en-US" dirty="0"/>
            </a:br>
            <a:endParaRPr lang="en-US" dirty="0"/>
          </a:p>
          <a:p>
            <a:r>
              <a:rPr lang="en-US" dirty="0"/>
              <a:t>Create a controlled environment to simulate normal and suspicious email traffic.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71677F-819D-39BF-CDB5-A9AE7E244D1A}"/>
              </a:ext>
            </a:extLst>
          </p:cNvPr>
          <p:cNvSpPr txBox="1"/>
          <p:nvPr/>
        </p:nvSpPr>
        <p:spPr>
          <a:xfrm>
            <a:off x="108066" y="2117171"/>
            <a:ext cx="610154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Tasks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Generate normal email traffic.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Generate simulated suspicious email traffic.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Record email-related traffic.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 a labelled dataset.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Maintain controlled laboratory conditions.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D2558E-DE4B-3EE0-A1F5-EC690B15D1DB}"/>
              </a:ext>
            </a:extLst>
          </p:cNvPr>
          <p:cNvSpPr txBox="1"/>
          <p:nvPr/>
        </p:nvSpPr>
        <p:spPr>
          <a:xfrm>
            <a:off x="149630" y="4221288"/>
            <a:ext cx="481306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Tools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Sandboxed email server/simulation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Controlled lab environment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Network traffic capture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7DD776-DEB6-61C3-0175-9C06FE3F1315}"/>
              </a:ext>
            </a:extLst>
          </p:cNvPr>
          <p:cNvSpPr txBox="1"/>
          <p:nvPr/>
        </p:nvSpPr>
        <p:spPr>
          <a:xfrm>
            <a:off x="1284317" y="6211669"/>
            <a:ext cx="85080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Output</a:t>
            </a:r>
          </a:p>
          <a:p>
            <a:pPr>
              <a:buNone/>
            </a:pPr>
            <a:r>
              <a:rPr lang="en-US" b="1" dirty="0"/>
              <a:t>Labelled dataset containing normal and suspicious email traffic.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A042E4D-0D1C-AFA0-EC7B-8672DCB77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1637" y="733600"/>
            <a:ext cx="5275811" cy="53907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8E7D807-A0D3-0255-A2C9-0E2D61CADF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706" y="21041"/>
            <a:ext cx="2271517" cy="66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077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514CEB-0D81-C53C-62BE-709D8285DF58}"/>
              </a:ext>
            </a:extLst>
          </p:cNvPr>
          <p:cNvSpPr txBox="1"/>
          <p:nvPr/>
        </p:nvSpPr>
        <p:spPr>
          <a:xfrm>
            <a:off x="199505" y="214345"/>
            <a:ext cx="6101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Module 2: Wireshark-Based Pattern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1F2BA2-B87B-B4AE-E216-93B99F7DE872}"/>
              </a:ext>
            </a:extLst>
          </p:cNvPr>
          <p:cNvSpPr txBox="1"/>
          <p:nvPr/>
        </p:nvSpPr>
        <p:spPr>
          <a:xfrm>
            <a:off x="182879" y="683366"/>
            <a:ext cx="61015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Objective:</a:t>
            </a:r>
            <a:br>
              <a:rPr lang="en-US" dirty="0"/>
            </a:br>
            <a:endParaRPr lang="en-US" dirty="0"/>
          </a:p>
          <a:p>
            <a:r>
              <a:rPr lang="en-US" dirty="0"/>
              <a:t>Analyze captured email traffic using Wireshark.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CF13A0-1E69-ED79-2103-91FB9B0AA7F7}"/>
              </a:ext>
            </a:extLst>
          </p:cNvPr>
          <p:cNvSpPr txBox="1"/>
          <p:nvPr/>
        </p:nvSpPr>
        <p:spPr>
          <a:xfrm>
            <a:off x="199505" y="1793184"/>
            <a:ext cx="610154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Tasks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Capture network packets.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Identify email-related protocols.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Compare normal and suspicious traffic.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Examine available headers and network metadata.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Identify suspicious network-visible indicators.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0219DE-4271-8B0E-3129-F2425C36D97D}"/>
              </a:ext>
            </a:extLst>
          </p:cNvPr>
          <p:cNvSpPr txBox="1"/>
          <p:nvPr/>
        </p:nvSpPr>
        <p:spPr>
          <a:xfrm>
            <a:off x="182879" y="3917753"/>
            <a:ext cx="610154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Tools</a:t>
            </a:r>
          </a:p>
          <a:p>
            <a:pPr>
              <a:buNone/>
            </a:pPr>
            <a:r>
              <a:rPr lang="en-US" b="1" dirty="0"/>
              <a:t>Wireshark</a:t>
            </a:r>
            <a:endParaRPr lang="en-US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Protocols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SMTP – Sending email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POP3 – Receiving email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IMAP – Accessing email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186BFC-9A2A-05CB-BA16-0ECC1665238E}"/>
              </a:ext>
            </a:extLst>
          </p:cNvPr>
          <p:cNvSpPr txBox="1"/>
          <p:nvPr/>
        </p:nvSpPr>
        <p:spPr>
          <a:xfrm>
            <a:off x="1113906" y="6135566"/>
            <a:ext cx="105654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Output</a:t>
            </a:r>
          </a:p>
          <a:p>
            <a:pPr>
              <a:buNone/>
            </a:pPr>
            <a:r>
              <a:rPr lang="en-US" dirty="0"/>
              <a:t>A documented list of network-visible characteristics that may help distinguish suspicious traffic.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5ACAC85-D674-49DE-A172-D5A91B5BEE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9934" y="583677"/>
            <a:ext cx="5184372" cy="53921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EE6E2D7-4D9A-E44E-163E-B7A6A5121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5758" y="37343"/>
            <a:ext cx="1878548" cy="54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351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D4B2D4-1B29-CE67-3C0C-B2ACC14F3AC7}"/>
              </a:ext>
            </a:extLst>
          </p:cNvPr>
          <p:cNvSpPr txBox="1"/>
          <p:nvPr/>
        </p:nvSpPr>
        <p:spPr>
          <a:xfrm>
            <a:off x="249382" y="247595"/>
            <a:ext cx="6101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Module 3: Basic Keyword-Based Detection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262F75-2EC3-76F1-7BCE-5A8AE730879D}"/>
              </a:ext>
            </a:extLst>
          </p:cNvPr>
          <p:cNvSpPr txBox="1"/>
          <p:nvPr/>
        </p:nvSpPr>
        <p:spPr>
          <a:xfrm>
            <a:off x="249382" y="1009687"/>
            <a:ext cx="70242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Objective:</a:t>
            </a:r>
            <a:br>
              <a:rPr lang="en-US" dirty="0"/>
            </a:br>
            <a:r>
              <a:rPr lang="en-US" dirty="0"/>
              <a:t>Develop a simple Python program that identifies potentially suspicious emails using keywords.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1B92CF-623B-7A9A-AD8B-DFF97B728529}"/>
              </a:ext>
            </a:extLst>
          </p:cNvPr>
          <p:cNvSpPr txBox="1"/>
          <p:nvPr/>
        </p:nvSpPr>
        <p:spPr>
          <a:xfrm>
            <a:off x="249382" y="2065542"/>
            <a:ext cx="61015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Method</a:t>
            </a:r>
          </a:p>
          <a:p>
            <a:pPr>
              <a:buFont typeface="+mj-lt"/>
              <a:buAutoNum type="arabicPeriod"/>
            </a:pPr>
            <a:r>
              <a:rPr lang="en-US" dirty="0"/>
              <a:t>Read email subject and text. </a:t>
            </a:r>
          </a:p>
          <a:p>
            <a:pPr>
              <a:buFont typeface="+mj-lt"/>
              <a:buAutoNum type="arabicPeriod"/>
            </a:pPr>
            <a:r>
              <a:rPr lang="en-US" dirty="0"/>
              <a:t>Convert text into a common format. </a:t>
            </a:r>
          </a:p>
          <a:p>
            <a:pPr>
              <a:buFont typeface="+mj-lt"/>
              <a:buAutoNum type="arabicPeriod"/>
            </a:pPr>
            <a:r>
              <a:rPr lang="en-US" dirty="0"/>
              <a:t>Search for predefined keywords. </a:t>
            </a:r>
          </a:p>
          <a:p>
            <a:pPr>
              <a:buFont typeface="+mj-lt"/>
              <a:buAutoNum type="arabicPeriod"/>
            </a:pPr>
            <a:r>
              <a:rPr lang="en-US" dirty="0"/>
              <a:t>Count matching keywords. </a:t>
            </a:r>
          </a:p>
          <a:p>
            <a:pPr>
              <a:buFont typeface="+mj-lt"/>
              <a:buAutoNum type="arabicPeriod"/>
            </a:pPr>
            <a:r>
              <a:rPr lang="en-US" dirty="0"/>
              <a:t>Flag emails containing suspicious terms.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2014BF-E9E6-A39E-BBF5-47BF5883CD4C}"/>
              </a:ext>
            </a:extLst>
          </p:cNvPr>
          <p:cNvSpPr txBox="1"/>
          <p:nvPr/>
        </p:nvSpPr>
        <p:spPr>
          <a:xfrm>
            <a:off x="351764" y="4169003"/>
            <a:ext cx="6101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Output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4DADD56-DA90-D9B5-1958-6D135A977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04" y="4805712"/>
            <a:ext cx="5215712" cy="18878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05C647E-C7A2-4135-08DF-DC58C4F02D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410" y="452144"/>
            <a:ext cx="4229386" cy="595371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DB81C79-0608-FFC5-AC88-DE91C8B41C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5182" y="15417"/>
            <a:ext cx="1879388" cy="546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362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13AFA0-7284-8AAE-3014-F9F0C76A8840}"/>
              </a:ext>
            </a:extLst>
          </p:cNvPr>
          <p:cNvSpPr txBox="1"/>
          <p:nvPr/>
        </p:nvSpPr>
        <p:spPr>
          <a:xfrm>
            <a:off x="249382" y="206032"/>
            <a:ext cx="6101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Software / Hardware Functionality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DEA22E6-3F6B-612A-9CDF-1EA6F236B3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0471795"/>
              </p:ext>
            </p:extLst>
          </p:nvPr>
        </p:nvGraphicFramePr>
        <p:xfrm>
          <a:off x="249382" y="1274802"/>
          <a:ext cx="8596312" cy="1828800"/>
        </p:xfrm>
        <a:graphic>
          <a:graphicData uri="http://schemas.openxmlformats.org/drawingml/2006/table">
            <a:tbl>
              <a:tblPr/>
              <a:tblGrid>
                <a:gridCol w="4298156">
                  <a:extLst>
                    <a:ext uri="{9D8B030D-6E8A-4147-A177-3AD203B41FA5}">
                      <a16:colId xmlns:a16="http://schemas.microsoft.com/office/drawing/2014/main" val="2460663312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17628773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Software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2545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Wireshark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Network traffic capture and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464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Python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Keyword-based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3428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Email simulation environment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Generate controlled traffic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861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Operating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Run project tools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3924031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55ED3742-68AF-9F27-672B-3BA97EF5E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3" y="315200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811FB4-DCA3-D3E0-BBBF-817697D230E2}"/>
              </a:ext>
            </a:extLst>
          </p:cNvPr>
          <p:cNvSpPr txBox="1"/>
          <p:nvPr/>
        </p:nvSpPr>
        <p:spPr>
          <a:xfrm>
            <a:off x="376382" y="3705999"/>
            <a:ext cx="909689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Hardware Requirements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Laptop/Desktop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Minimum 4 GB RAM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Network interface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Internet/LAN connection where required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Sufficient storage for packet captures 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Functionality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Capture → Analyze → Detect → Report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F126324-4FAD-2179-9048-E51D203155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1481" y="95288"/>
            <a:ext cx="2851137" cy="829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979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E1F59E-23C6-1BD7-2D87-893DE137D613}"/>
              </a:ext>
            </a:extLst>
          </p:cNvPr>
          <p:cNvSpPr txBox="1"/>
          <p:nvPr/>
        </p:nvSpPr>
        <p:spPr>
          <a:xfrm>
            <a:off x="232756" y="297472"/>
            <a:ext cx="61015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1" dirty="0">
                <a:solidFill>
                  <a:srgbClr val="FF0000"/>
                </a:solidFill>
              </a:rPr>
              <a:t>Results and Comparison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E87AD3-5240-BA3C-095C-C2720D605B57}"/>
              </a:ext>
            </a:extLst>
          </p:cNvPr>
          <p:cNvSpPr txBox="1"/>
          <p:nvPr/>
        </p:nvSpPr>
        <p:spPr>
          <a:xfrm>
            <a:off x="648393" y="1128744"/>
            <a:ext cx="6101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/>
              <a:t>Module-wise Results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5AA29F7-3D76-493D-C1A3-BDFD86A4AA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417571"/>
              </p:ext>
            </p:extLst>
          </p:nvPr>
        </p:nvGraphicFramePr>
        <p:xfrm>
          <a:off x="365760" y="1806128"/>
          <a:ext cx="10752976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8244">
                  <a:extLst>
                    <a:ext uri="{9D8B030D-6E8A-4147-A177-3AD203B41FA5}">
                      <a16:colId xmlns:a16="http://schemas.microsoft.com/office/drawing/2014/main" val="2039851328"/>
                    </a:ext>
                  </a:extLst>
                </a:gridCol>
                <a:gridCol w="2688244">
                  <a:extLst>
                    <a:ext uri="{9D8B030D-6E8A-4147-A177-3AD203B41FA5}">
                      <a16:colId xmlns:a16="http://schemas.microsoft.com/office/drawing/2014/main" val="1702192907"/>
                    </a:ext>
                  </a:extLst>
                </a:gridCol>
                <a:gridCol w="2688244">
                  <a:extLst>
                    <a:ext uri="{9D8B030D-6E8A-4147-A177-3AD203B41FA5}">
                      <a16:colId xmlns:a16="http://schemas.microsoft.com/office/drawing/2014/main" val="2402074574"/>
                    </a:ext>
                  </a:extLst>
                </a:gridCol>
                <a:gridCol w="2688244">
                  <a:extLst>
                    <a:ext uri="{9D8B030D-6E8A-4147-A177-3AD203B41FA5}">
                      <a16:colId xmlns:a16="http://schemas.microsoft.com/office/drawing/2014/main" val="38804228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MODULE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516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MODULE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Email Traffic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Labelled Traffic </a:t>
                      </a:r>
                    </a:p>
                    <a:p>
                      <a:pPr algn="ctr"/>
                      <a:r>
                        <a:rPr lang="en-US" dirty="0"/>
                        <a:t>Dataset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887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MODULE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Captured packets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Wireshark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Suspicious traffic indicators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298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MODULE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Email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Python keywords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Suspicious / Normal classification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188079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48FEFC41-CB5E-C3F0-EBDB-C933896A7221}"/>
              </a:ext>
            </a:extLst>
          </p:cNvPr>
          <p:cNvSpPr txBox="1"/>
          <p:nvPr/>
        </p:nvSpPr>
        <p:spPr>
          <a:xfrm>
            <a:off x="648393" y="4521027"/>
            <a:ext cx="926037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Overall Result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The three modules demonstrate different levels of phishing detection: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Traffic Generation → Network Analysis → Content-Based Detection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737030-9DA5-2C45-5686-15EE699324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2193" y="119905"/>
            <a:ext cx="2543567" cy="73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41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AB12BC-F39D-67D9-C21D-B28E8C4F9E97}"/>
              </a:ext>
            </a:extLst>
          </p:cNvPr>
          <p:cNvSpPr txBox="1"/>
          <p:nvPr/>
        </p:nvSpPr>
        <p:spPr>
          <a:xfrm>
            <a:off x="326967" y="580105"/>
            <a:ext cx="61015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rgbClr val="FF0000"/>
                </a:solidFill>
              </a:rPr>
              <a:t>Limitations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5ACD9D0-27AC-4877-3EDC-16C503E850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967" y="1841377"/>
            <a:ext cx="685636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Keyword detection can produce false positives.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 phishing techniques may use different words.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Encrypted email traffic limits packet-level visibility.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Wireshark analysis requires basic networking knowledge.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Controlled simulation may not represent every real-world attack.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does not use advanced machine learning. </a:t>
            </a:r>
          </a:p>
        </p:txBody>
      </p:sp>
    </p:spTree>
    <p:extLst>
      <p:ext uri="{BB962C8B-B14F-4D97-AF65-F5344CB8AC3E}">
        <p14:creationId xmlns:p14="http://schemas.microsoft.com/office/powerpoint/2010/main" val="3674622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0D624A-4B20-9439-51A9-7560BCD27006}"/>
              </a:ext>
            </a:extLst>
          </p:cNvPr>
          <p:cNvSpPr txBox="1"/>
          <p:nvPr/>
        </p:nvSpPr>
        <p:spPr>
          <a:xfrm>
            <a:off x="324196" y="297472"/>
            <a:ext cx="6101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1" dirty="0">
                <a:solidFill>
                  <a:srgbClr val="FF0000"/>
                </a:solidFill>
              </a:rPr>
              <a:t>Future Scope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B1FDA3-2223-5AAE-647B-3489E38E6761}"/>
              </a:ext>
            </a:extLst>
          </p:cNvPr>
          <p:cNvSpPr txBox="1"/>
          <p:nvPr/>
        </p:nvSpPr>
        <p:spPr>
          <a:xfrm>
            <a:off x="465513" y="1525353"/>
            <a:ext cx="610154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Future Enhancements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Machine learning-based phishing detection.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Natural Language Processing (NLP).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URL reputation checking.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Sender/domain reputation analysis.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Automated email classification.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Real-time monitoring dashboard.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Integration with security systems.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Improved detection using multiple indicators.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372F39-5991-1E80-7821-6DBF05445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259" y="240327"/>
            <a:ext cx="2418876" cy="703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4152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1225A2-F537-3EE0-61CC-3A66CFCC1172}"/>
              </a:ext>
            </a:extLst>
          </p:cNvPr>
          <p:cNvSpPr txBox="1"/>
          <p:nvPr/>
        </p:nvSpPr>
        <p:spPr>
          <a:xfrm>
            <a:off x="290946" y="355660"/>
            <a:ext cx="61015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i="1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EA043B-6677-2E30-3C98-55DAC8795662}"/>
              </a:ext>
            </a:extLst>
          </p:cNvPr>
          <p:cNvSpPr txBox="1"/>
          <p:nvPr/>
        </p:nvSpPr>
        <p:spPr>
          <a:xfrm>
            <a:off x="290946" y="1414746"/>
            <a:ext cx="1203682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Phishing is an important cybersecurity threat that requires user awareness and technical detection.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project demonstrates three complementary approaches.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Module 1</a:t>
            </a:r>
            <a:r>
              <a:rPr lang="en-US" dirty="0"/>
              <a:t> creates controlled email traffic.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Module 2</a:t>
            </a:r>
            <a:r>
              <a:rPr lang="en-US" dirty="0"/>
              <a:t> analyzes network traffic using Wireshark.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Module 3</a:t>
            </a:r>
            <a:r>
              <a:rPr lang="en-US" dirty="0"/>
              <a:t> detects suspicious keywords using Python.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project helps students understand both </a:t>
            </a:r>
            <a:r>
              <a:rPr lang="en-US" b="1" dirty="0"/>
              <a:t>network-level and content-level phishing indicators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system can be extended using </a:t>
            </a:r>
            <a:r>
              <a:rPr lang="en-US" b="1" dirty="0"/>
              <a:t>machine learning, NLP, URL analysis, and real-time monitoring</a:t>
            </a:r>
            <a:r>
              <a:rPr lang="en-US" dirty="0"/>
              <a:t>. 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Final Message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“Awareness + Analysis + Detection = Better Protection Against Phishing”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044513-A0F0-3834-8938-A1325C11B3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1684" y="153478"/>
            <a:ext cx="2219370" cy="645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3037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1F0ABD-9834-A2D0-A6D8-A303684819AE}"/>
              </a:ext>
            </a:extLst>
          </p:cNvPr>
          <p:cNvSpPr txBox="1"/>
          <p:nvPr/>
        </p:nvSpPr>
        <p:spPr>
          <a:xfrm>
            <a:off x="274320" y="280846"/>
            <a:ext cx="61015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i="1" dirty="0">
                <a:solidFill>
                  <a:srgbClr val="FF0000"/>
                </a:solidFill>
              </a:rPr>
              <a:t>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A14CD1-6552-8EFB-1314-9AF771356B6B}"/>
              </a:ext>
            </a:extLst>
          </p:cNvPr>
          <p:cNvSpPr txBox="1"/>
          <p:nvPr/>
        </p:nvSpPr>
        <p:spPr>
          <a:xfrm>
            <a:off x="465514" y="1530849"/>
            <a:ext cx="610154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dirty="0"/>
              <a:t>Wireshark Documentation – Network Protocol Analyzer 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Python Documentation – Python Programming Language 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RFC 5321 – Simple Mail Transfer Protocol (SMTP) 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RFC 3501 – Internet Message Access Protocol (IMAP) 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RFC 1939 – Post Office Protocol Version 3 (POP3) 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CISA – Phishing Guidance and Cybersecurity Awareness 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NIST – Cybersecurity Framework 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OWASP – Web and Application Security Resources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B098FE9-D515-B2C3-8BB3-C6CC1D290A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0615" y="170102"/>
            <a:ext cx="2477065" cy="72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3233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170966-22F4-A407-2044-D4AC59F5014B}"/>
              </a:ext>
            </a:extLst>
          </p:cNvPr>
          <p:cNvSpPr txBox="1"/>
          <p:nvPr/>
        </p:nvSpPr>
        <p:spPr>
          <a:xfrm>
            <a:off x="3120043" y="2635995"/>
            <a:ext cx="59519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i="1" dirty="0">
                <a:solidFill>
                  <a:srgbClr val="FF0000"/>
                </a:solidFill>
              </a:rPr>
              <a:t>THANK YOU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C51E95-4B4F-7447-6107-CFBA0261E3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508" y="348520"/>
            <a:ext cx="3258462" cy="94765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98AFCC7-D78F-11AF-74B0-A7EDC137A1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9012" y="277558"/>
            <a:ext cx="3840480" cy="108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67576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79</TotalTime>
  <Words>952</Words>
  <Application>Microsoft Office PowerPoint</Application>
  <PresentationFormat>Widescreen</PresentationFormat>
  <Paragraphs>252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T Thomas</dc:creator>
  <cp:lastModifiedBy>Thomas T Thomas</cp:lastModifiedBy>
  <cp:revision>4</cp:revision>
  <dcterms:created xsi:type="dcterms:W3CDTF">2026-08-30T15:26:52Z</dcterms:created>
  <dcterms:modified xsi:type="dcterms:W3CDTF">2026-09-01T03:09:31Z</dcterms:modified>
</cp:coreProperties>
</file>